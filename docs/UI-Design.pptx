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152" y="3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A9A831-770F-7F96-069C-482703AF5F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86510D7-6C8E-F015-3CCE-6327B87EB6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51D080-699D-BFE6-2E5C-EF6144DFF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481572-B45F-02DE-FDC3-B9ADC6013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63AEFB7-73EF-CE83-71C1-09E4589FB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8241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A2AEAB-682B-9511-26A7-5BF2914C4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E09E25-75D1-FCC7-F5A6-9BC68242C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CA5557E-8E50-A762-3F30-B444DF5B8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86536A-52F2-A734-BBF2-1393FD01B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59F4553-D743-714A-1E19-A733CC88B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214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1F8DC1-146C-2E52-D8D3-577D0360B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9C269F2-1A73-FC2D-E871-D7534ABEB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AA7863-F319-6B28-75E5-D07186738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51FD9E-1529-1754-CEF9-C621BFAA0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7663CDF-9991-BC61-AF19-8602EADBE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45707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764C3B-174F-3AAD-56B2-162723796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E7B9540-7273-0375-964C-58DDA9CCDA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C4414B3-D80F-1970-B2D2-1E687E29AA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7B26BB-E967-6287-FCFF-02AF69459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891CFE8-113C-3091-3BF4-1A4BFBC56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2E0104-964A-90B4-419B-79FE9A434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9389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4BC871-E187-C742-2629-EADE41C23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1672E6A-33CC-EBF3-4E8C-256C480354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F41AECA-FD95-C91B-910C-9AD108EC87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5E98D61-73BC-925E-2834-C8D05454F7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4F9C091-B985-0DA0-27C0-DEE9FDC0A9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AE850F1-B52A-7D29-DD8B-5674C2154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15E5D3C-4DF2-3DF6-1F1F-5AD01732A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7E3A465-7F2D-C145-5313-4B7FC3BC3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85070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7D00C3-938C-AE4C-D813-5B08EFD558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6447"/>
            <a:ext cx="10515600" cy="478254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AD8D0B6-2193-A5EF-1D89-0FF0271EF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64D6642-EBF3-34DA-037C-1B1C9E65B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E6B7798-76F5-F0C4-FE8B-F767702AB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10761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ECAD6CA-8540-ACCA-17C4-FD44C931B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6BDBADC-F113-D657-8A11-AEF272294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B0E213A-D778-331B-B407-38E0D7400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9489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5C2494-0084-4F5B-7354-5A3CC597F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E17A45-5620-61E7-6CF1-75EC0CBA6B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6A6764A-31E6-9C4C-F3FA-4833DA2405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E40FF8-4C3E-FBB7-7F3A-B871CCC5B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82D16BB-C427-6906-B81B-7FF280D89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2FDF90F-5E0C-895D-4C5C-DB965DFFE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87410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1C7B25-909C-FDF7-DAF1-77894A6A3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102BF61-5F4C-CB3A-787E-91239A41DE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B2098F3-044E-1E6F-9C23-3152CE620F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5FE80F7-2095-E1F0-03FA-D4467CE04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E7B7424-0ABF-A8E9-7A57-556CDB9C2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4C8C6A-0E2A-545A-897F-983848675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9362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942DBF-A1C4-A3D5-BA9E-BFE2FF08E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319EAE2-5FCE-CD95-1975-DCDB8B26E7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C1BF24-3424-BCB5-C5E1-A8B15CF35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A5B970C-196E-6E5B-BE76-3A668BB0E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7D5E928-FA4C-9AAE-1031-1309CB76C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3560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AB3C5BC-D741-52E9-5AED-E19AB59616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2F54EF-23E8-F000-DCEF-4D72A01CEA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118E21-AF93-0E21-259A-2992B82E2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AA7BBE2-DEAD-FD76-98E4-90AD1A88E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3CEECE8-51B0-8668-B849-13B8DF7E8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4490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E09BE3E-7B90-E622-F985-E9EFC97F0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918517D-5C8F-3560-D18B-39BEFCF3E8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05E9D7-D65D-FCCA-612B-2D35F01468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38FC70-68D5-4C7E-BEB4-F3EEBF61C1FC}" type="datetimeFigureOut">
              <a:rPr kumimoji="1" lang="ja-JP" altLang="en-US" smtClean="0"/>
              <a:t>2026/1/2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EAB260-B650-6CC4-54AB-B8F5672ACA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2F69C5-28BE-981E-5434-826436A7FE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D39E79-D8E8-475C-9CB9-A45C7C2434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89350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910D9C76-758D-6FC5-10FB-72EF9C75F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初期画面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D073E68A-F523-8C93-AC0B-93BBE37D43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718845"/>
              </p:ext>
            </p:extLst>
          </p:nvPr>
        </p:nvGraphicFramePr>
        <p:xfrm>
          <a:off x="1574800" y="2494324"/>
          <a:ext cx="8712200" cy="2595880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602916">
                  <a:extLst>
                    <a:ext uri="{9D8B030D-6E8A-4147-A177-3AD203B41FA5}">
                      <a16:colId xmlns:a16="http://schemas.microsoft.com/office/drawing/2014/main" val="3897167719"/>
                    </a:ext>
                  </a:extLst>
                </a:gridCol>
                <a:gridCol w="4842710">
                  <a:extLst>
                    <a:ext uri="{9D8B030D-6E8A-4147-A177-3AD203B41FA5}">
                      <a16:colId xmlns:a16="http://schemas.microsoft.com/office/drawing/2014/main" val="2763979411"/>
                    </a:ext>
                  </a:extLst>
                </a:gridCol>
                <a:gridCol w="3266574">
                  <a:extLst>
                    <a:ext uri="{9D8B030D-6E8A-4147-A177-3AD203B41FA5}">
                      <a16:colId xmlns:a16="http://schemas.microsoft.com/office/drawing/2014/main" val="41413028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タイトル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インタラクション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90964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選択問題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choice-interaction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8887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ホットスポット問題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hotspot-interaction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0041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インライン選択問題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inline-choice-interaction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2554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マッチング問題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match-interaction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27464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並べ替え問題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order-interaction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17722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テキスト入力問題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text-entry-interaction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830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3058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916FB1B-F0F2-FD9D-69CF-A252689DD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アイテムのテスト中</a:t>
            </a:r>
            <a:endParaRPr kumimoji="1" lang="ja-JP" altLang="en-US" dirty="0"/>
          </a:p>
        </p:txBody>
      </p:sp>
      <p:pic>
        <p:nvPicPr>
          <p:cNvPr id="4" name="図 3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98D6C94A-C65D-0006-B30B-2DEA1B8BF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3285" y="1623760"/>
            <a:ext cx="6125430" cy="3610479"/>
          </a:xfrm>
          <a:prstGeom prst="rect">
            <a:avLst/>
          </a:prstGeom>
        </p:spPr>
      </p:pic>
      <p:pic>
        <p:nvPicPr>
          <p:cNvPr id="6" name="図 5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924D1809-4C69-F840-6C49-6F3B8674EA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941" y="647312"/>
            <a:ext cx="9088118" cy="556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224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70F9D2-D088-80C4-E615-B75AC8344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アイテムの回答結果</a:t>
            </a:r>
            <a:r>
              <a:rPr kumimoji="1" lang="en-US" altLang="ja-JP" dirty="0"/>
              <a:t>: </a:t>
            </a:r>
            <a:r>
              <a:rPr kumimoji="1" lang="ja-JP" altLang="en-US" dirty="0"/>
              <a:t>正解の場合</a:t>
            </a:r>
          </a:p>
        </p:txBody>
      </p:sp>
      <p:pic>
        <p:nvPicPr>
          <p:cNvPr id="4" name="図 3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F99F52C-557F-ABF8-0C88-5297E6766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467" y="923575"/>
            <a:ext cx="9069066" cy="5010849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A6B6DCE-F9A8-8952-09F6-A97B0BADABA9}"/>
              </a:ext>
            </a:extLst>
          </p:cNvPr>
          <p:cNvSpPr txBox="1"/>
          <p:nvPr/>
        </p:nvSpPr>
        <p:spPr>
          <a:xfrm>
            <a:off x="2578813" y="4161034"/>
            <a:ext cx="1210588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kumimoji="1" lang="ja-JP" altLang="en-US" sz="2000" dirty="0"/>
              <a:t>回答済：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257BCB-1950-93E1-DFC7-047DCBC1355E}"/>
              </a:ext>
            </a:extLst>
          </p:cNvPr>
          <p:cNvSpPr txBox="1"/>
          <p:nvPr/>
        </p:nvSpPr>
        <p:spPr>
          <a:xfrm>
            <a:off x="3809949" y="4191812"/>
            <a:ext cx="646331" cy="369332"/>
          </a:xfrm>
          <a:prstGeom prst="rect">
            <a:avLst/>
          </a:prstGeom>
          <a:solidFill>
            <a:srgbClr val="F5F5F5"/>
          </a:solidFill>
        </p:spPr>
        <p:txBody>
          <a:bodyPr wrap="none" rtlCol="0">
            <a:spAutoFit/>
          </a:bodyPr>
          <a:lstStyle/>
          <a:p>
            <a:r>
              <a:rPr lang="ja-JP" altLang="en-US" b="1" i="0" dirty="0">
                <a:solidFill>
                  <a:srgbClr val="2E7D32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正解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839680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E2E6A-8FA3-8260-D86E-E23C83D8F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A87FA1-37FB-0339-DE90-7D502A4F3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アイテムの回答結果</a:t>
            </a:r>
            <a:r>
              <a:rPr lang="en-US" altLang="ja-JP" dirty="0"/>
              <a:t>: </a:t>
            </a:r>
            <a:r>
              <a:rPr lang="ja-JP" altLang="en-US" dirty="0"/>
              <a:t>不正解の場合</a:t>
            </a:r>
            <a:endParaRPr kumimoji="1" lang="ja-JP" altLang="en-US" dirty="0"/>
          </a:p>
        </p:txBody>
      </p:sp>
      <p:pic>
        <p:nvPicPr>
          <p:cNvPr id="4" name="図 3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230C7BF-343E-3DC1-3235-CAB4E11E0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467" y="923575"/>
            <a:ext cx="9069066" cy="5010849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7AFF221-F65E-051F-79D9-0B0AB61F754E}"/>
              </a:ext>
            </a:extLst>
          </p:cNvPr>
          <p:cNvSpPr txBox="1"/>
          <p:nvPr/>
        </p:nvSpPr>
        <p:spPr>
          <a:xfrm>
            <a:off x="2578813" y="4161034"/>
            <a:ext cx="1210588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kumimoji="1" lang="ja-JP" altLang="en-US" sz="2000" dirty="0"/>
              <a:t>回答済：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FB118F2-A79C-FF6D-BE89-57B3F68B9365}"/>
              </a:ext>
            </a:extLst>
          </p:cNvPr>
          <p:cNvSpPr txBox="1"/>
          <p:nvPr/>
        </p:nvSpPr>
        <p:spPr>
          <a:xfrm>
            <a:off x="3809949" y="4191812"/>
            <a:ext cx="3393878" cy="369332"/>
          </a:xfrm>
          <a:prstGeom prst="rect">
            <a:avLst/>
          </a:prstGeom>
          <a:solidFill>
            <a:srgbClr val="F5F5F5"/>
          </a:solidFill>
        </p:spPr>
        <p:txBody>
          <a:bodyPr wrap="none" rtlCol="0">
            <a:spAutoFit/>
          </a:bodyPr>
          <a:lstStyle/>
          <a:p>
            <a:r>
              <a:rPr lang="ja-JP" altLang="en-US" b="1" i="0" dirty="0">
                <a:solidFill>
                  <a:srgbClr val="C62828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不正解。正解は「東京」です。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0934241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EDAE2-0F06-AE7D-3B78-5BA08533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24BD077D-1ECF-8C5B-E517-5A725CD2A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テスト結果</a:t>
            </a: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073D44E1-CF4A-596E-2E2E-E02247D965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0450057"/>
              </p:ext>
            </p:extLst>
          </p:nvPr>
        </p:nvGraphicFramePr>
        <p:xfrm>
          <a:off x="1574800" y="3069675"/>
          <a:ext cx="8712200" cy="2595880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602916">
                  <a:extLst>
                    <a:ext uri="{9D8B030D-6E8A-4147-A177-3AD203B41FA5}">
                      <a16:colId xmlns:a16="http://schemas.microsoft.com/office/drawing/2014/main" val="3897167719"/>
                    </a:ext>
                  </a:extLst>
                </a:gridCol>
                <a:gridCol w="4842710">
                  <a:extLst>
                    <a:ext uri="{9D8B030D-6E8A-4147-A177-3AD203B41FA5}">
                      <a16:colId xmlns:a16="http://schemas.microsoft.com/office/drawing/2014/main" val="2763979411"/>
                    </a:ext>
                  </a:extLst>
                </a:gridCol>
                <a:gridCol w="3266574">
                  <a:extLst>
                    <a:ext uri="{9D8B030D-6E8A-4147-A177-3AD203B41FA5}">
                      <a16:colId xmlns:a16="http://schemas.microsoft.com/office/drawing/2014/main" val="41413028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タイトル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結果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90964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選択問題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1/1 </a:t>
                      </a: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○</a:t>
                      </a:r>
                      <a:endParaRPr kumimoji="1" lang="en-US" altLang="ja-JP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8887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ホットスポット問題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b="0" i="0" dirty="0">
                          <a:solidFill>
                            <a:srgbClr val="FF98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未採点</a:t>
                      </a:r>
                      <a:endParaRPr kumimoji="1" lang="en-US" altLang="ja-JP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0041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インライン選択問題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回答なし</a:t>
                      </a:r>
                      <a:endParaRPr kumimoji="1" lang="en-US" altLang="ja-JP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2554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マッチング問題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b="0" i="0" dirty="0">
                          <a:solidFill>
                            <a:srgbClr val="FF98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未採点</a:t>
                      </a:r>
                      <a:endParaRPr kumimoji="1" lang="en-US" altLang="ja-JP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27464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並べ替え問題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 / 1 ×</a:t>
                      </a:r>
                      <a:endParaRPr kumimoji="1" lang="en-US" altLang="ja-JP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17722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テキスト入力問題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b="0" i="0" dirty="0">
                          <a:solidFill>
                            <a:srgbClr val="FF9800"/>
                          </a:solidFill>
                          <a:effectLst/>
                          <a:latin typeface="Noto Sans JP" panose="020B0200000000000000" pitchFamily="50" charset="-128"/>
                          <a:ea typeface="Noto Sans JP" panose="020B0200000000000000" pitchFamily="50" charset="-128"/>
                        </a:rPr>
                        <a:t>未採点</a:t>
                      </a:r>
                      <a:endParaRPr kumimoji="1" lang="en-US" altLang="ja-JP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830629"/>
                  </a:ext>
                </a:extLst>
              </a:tr>
            </a:tbl>
          </a:graphicData>
        </a:graphic>
      </p:graphicFrame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C43BA5B-B7C9-7756-D301-39C32F80C230}"/>
              </a:ext>
            </a:extLst>
          </p:cNvPr>
          <p:cNvSpPr txBox="1"/>
          <p:nvPr/>
        </p:nvSpPr>
        <p:spPr>
          <a:xfrm>
            <a:off x="3048856" y="1384211"/>
            <a:ext cx="6097712" cy="1443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75"/>
              </a:spcAft>
              <a:buNone/>
            </a:pPr>
            <a:r>
              <a:rPr lang="ja-JP" altLang="en-US" b="1" i="0" dirty="0">
                <a:solidFill>
                  <a:srgbClr val="333333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テスト結果</a:t>
            </a:r>
          </a:p>
          <a:p>
            <a:pPr algn="ctr">
              <a:spcAft>
                <a:spcPts val="375"/>
              </a:spcAft>
              <a:buNone/>
            </a:pPr>
            <a:r>
              <a:rPr lang="en-US" altLang="ja-JP" b="1" i="0" dirty="0">
                <a:solidFill>
                  <a:srgbClr val="1976D2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1</a:t>
            </a:r>
            <a:r>
              <a:rPr lang="en-US" altLang="ja-JP" b="0" i="0" dirty="0">
                <a:solidFill>
                  <a:srgbClr val="666666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/2</a:t>
            </a:r>
            <a:r>
              <a:rPr lang="ja-JP" altLang="en-US" b="0" i="0" dirty="0">
                <a:solidFill>
                  <a:srgbClr val="666666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点</a:t>
            </a:r>
            <a:endParaRPr lang="ja-JP" altLang="en-US" b="0" i="0" dirty="0">
              <a:solidFill>
                <a:srgbClr val="000000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ctr">
              <a:spcAft>
                <a:spcPts val="1125"/>
              </a:spcAft>
              <a:buNone/>
            </a:pPr>
            <a:r>
              <a:rPr lang="ja-JP" altLang="en-US" b="0" i="0" dirty="0">
                <a:solidFill>
                  <a:srgbClr val="666666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正答率</a:t>
            </a:r>
            <a:r>
              <a:rPr lang="en-US" altLang="ja-JP" b="0" i="0" dirty="0">
                <a:solidFill>
                  <a:srgbClr val="666666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: 50%</a:t>
            </a:r>
          </a:p>
          <a:p>
            <a:pPr algn="ctr">
              <a:spcAft>
                <a:spcPts val="1125"/>
              </a:spcAft>
              <a:buNone/>
            </a:pPr>
            <a:r>
              <a:rPr lang="en-US" altLang="ja-JP" b="0" i="0" dirty="0">
                <a:solidFill>
                  <a:srgbClr val="FF9800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※ </a:t>
            </a:r>
            <a:r>
              <a:rPr lang="ja-JP" altLang="en-US" b="0" i="0" dirty="0">
                <a:solidFill>
                  <a:srgbClr val="FF9800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未採点</a:t>
            </a:r>
            <a:r>
              <a:rPr lang="en-US" altLang="ja-JP" b="0" i="0" dirty="0">
                <a:solidFill>
                  <a:srgbClr val="FF9800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: 2</a:t>
            </a:r>
            <a:r>
              <a:rPr lang="ja-JP" altLang="en-US" b="0" i="0" dirty="0">
                <a:solidFill>
                  <a:srgbClr val="FF9800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問</a:t>
            </a:r>
          </a:p>
        </p:txBody>
      </p:sp>
    </p:spTree>
    <p:extLst>
      <p:ext uri="{BB962C8B-B14F-4D97-AF65-F5344CB8AC3E}">
        <p14:creationId xmlns:p14="http://schemas.microsoft.com/office/powerpoint/2010/main" val="451545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113</Words>
  <Application>Microsoft Office PowerPoint</Application>
  <PresentationFormat>ワイド画面</PresentationFormat>
  <Paragraphs>55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Noto Sans JP</vt:lpstr>
      <vt:lpstr>游ゴシック</vt:lpstr>
      <vt:lpstr>游ゴシック Light</vt:lpstr>
      <vt:lpstr>Arial</vt:lpstr>
      <vt:lpstr>Office テーマ</vt:lpstr>
      <vt:lpstr>初期画面</vt:lpstr>
      <vt:lpstr>アイテムのテスト中</vt:lpstr>
      <vt:lpstr>アイテムの回答結果: 正解の場合</vt:lpstr>
      <vt:lpstr>アイテムの回答結果: 不正解の場合</vt:lpstr>
      <vt:lpstr>テスト結果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Shunichi Kajisa</dc:creator>
  <cp:lastModifiedBy>Shunichi Kajisa</cp:lastModifiedBy>
  <cp:revision>1</cp:revision>
  <dcterms:created xsi:type="dcterms:W3CDTF">2026-01-02T02:06:50Z</dcterms:created>
  <dcterms:modified xsi:type="dcterms:W3CDTF">2026-01-02T03:33:44Z</dcterms:modified>
</cp:coreProperties>
</file>